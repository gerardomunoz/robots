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651e48d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651e48d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651e48d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651e48d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655b6e83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655b6e83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673272cc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673272cc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673272cc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673272cc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673272cc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673272cc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673272cc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673272cc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655b6e83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655b6e83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51e48d1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651e48d1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67a68ab7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67a68ab7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67a68ab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67a68ab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3434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hop.mearm.com/pages/resources-and-files" TargetMode="External"/><Relationship Id="rId4" Type="http://schemas.openxmlformats.org/officeDocument/2006/relationships/hyperlink" Target="https://sketchfab.com/3d-models/mearm-v10-robot-arm-8d8d0a43e0ba4ee5808e703da62fff28" TargetMode="External"/><Relationship Id="rId5" Type="http://schemas.openxmlformats.org/officeDocument/2006/relationships/hyperlink" Target="https://gerardomunoz.github.io/embedded/virtual/mearm_seq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ohPwT1TYvqE&amp;list=PL3p-xXY-sN6GKWr1vW_iW8NHEkeZBoL3T&amp;index=133" TargetMode="External"/><Relationship Id="rId4" Type="http://schemas.openxmlformats.org/officeDocument/2006/relationships/hyperlink" Target="https://youtu.be/vzM_-Rr5mtw?list=PL3p-xXY-sN6GKWr1vW_iW8NHEkeZBoL3T&amp;t=431" TargetMode="External"/><Relationship Id="rId11" Type="http://schemas.openxmlformats.org/officeDocument/2006/relationships/hyperlink" Target="https://www.youtube.com/watch?v=VbSL5W8Ua6M&amp;list=PL3p-xXY-sN6GKWr1vW_iW8NHEkeZBoL3T&amp;index=135" TargetMode="External"/><Relationship Id="rId10" Type="http://schemas.openxmlformats.org/officeDocument/2006/relationships/hyperlink" Target="https://www.youtube.com/watch?v=74T0LF2l5Ck&amp;list=PL3p-xXY-sN6GKWr1vW_iW8NHEkeZBoL3T&amp;index=44" TargetMode="External"/><Relationship Id="rId12" Type="http://schemas.openxmlformats.org/officeDocument/2006/relationships/hyperlink" Target="https://www.youtube.com/watch?v=7hBNs4Xqdy4" TargetMode="External"/><Relationship Id="rId9" Type="http://schemas.openxmlformats.org/officeDocument/2006/relationships/hyperlink" Target="https://www.youtube.com/watch?v=NdIk5hIsBmg&amp;list=PL3p-xXY-sN6GKWr1vW_iW8NHEkeZBoL3T&amp;index=57" TargetMode="External"/><Relationship Id="rId5" Type="http://schemas.openxmlformats.org/officeDocument/2006/relationships/hyperlink" Target="https://www.youtube.com/watch?v=5ecQ2bxHRjI" TargetMode="External"/><Relationship Id="rId6" Type="http://schemas.openxmlformats.org/officeDocument/2006/relationships/hyperlink" Target="https://www.youtube.com/watch?v=NM4q-f68TlY" TargetMode="External"/><Relationship Id="rId7" Type="http://schemas.openxmlformats.org/officeDocument/2006/relationships/hyperlink" Target="https://www.youtube.com/watch?v=nhd0NdZDjWw" TargetMode="External"/><Relationship Id="rId8" Type="http://schemas.openxmlformats.org/officeDocument/2006/relationships/hyperlink" Target="https://www.youtube.com/watch?v=JFmNAI-4cQo&amp;list=PL3p-xXY-sN6GKWr1vW_iW8NHEkeZBoL3T&amp;index=63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425" y="8465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518550"/>
            <a:ext cx="8520600" cy="10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MeArm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Official MeArm resources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https://shop.mearm.com/pages/resources-and-files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https://sketchfab.com/3d-models/mearm-v10-robot-arm-8d8d0a43e0ba4ee5808e703da62fff28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Simulator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https://gerardomunoz.github.io/embedded/virtual/mearm_seq.html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MeArm Links and Joins</a:t>
            </a:r>
            <a:endParaRPr/>
          </a:p>
        </p:txBody>
      </p:sp>
      <p:grpSp>
        <p:nvGrpSpPr>
          <p:cNvPr id="68" name="Google Shape;68;p15"/>
          <p:cNvGrpSpPr/>
          <p:nvPr/>
        </p:nvGrpSpPr>
        <p:grpSpPr>
          <a:xfrm>
            <a:off x="3972100" y="1281350"/>
            <a:ext cx="5072750" cy="3736300"/>
            <a:chOff x="2035625" y="1211250"/>
            <a:chExt cx="5072750" cy="3736300"/>
          </a:xfrm>
        </p:grpSpPr>
        <p:pic>
          <p:nvPicPr>
            <p:cNvPr id="69" name="Google Shape;6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35625" y="1211250"/>
              <a:ext cx="5072750" cy="373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5"/>
            <p:cNvSpPr txBox="1"/>
            <p:nvPr/>
          </p:nvSpPr>
          <p:spPr>
            <a:xfrm>
              <a:off x="2814325" y="434132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A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3955775" y="303327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B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696650" y="225452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C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2647750" y="294727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D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3776875" y="152817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E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3109575" y="2799200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F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3072550" y="3774050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G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3629675" y="186752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H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4208875" y="186752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I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4801975" y="303327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J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5783000" y="364412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K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5263800" y="271622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L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6109100" y="3879625"/>
              <a:ext cx="32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</a:rPr>
                <a:t>M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/>
              <a:t>       </a:t>
            </a:r>
            <a:r>
              <a:rPr lang="es" sz="2000"/>
              <a:t>Is M parallel to A? 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MeArm Constant angles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100" y="1095300"/>
            <a:ext cx="5325350" cy="39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5229075" y="4246925"/>
            <a:ext cx="656700" cy="668700"/>
          </a:xfrm>
          <a:prstGeom prst="arc">
            <a:avLst>
              <a:gd fmla="val 10695384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5956213" y="1786175"/>
            <a:ext cx="893400" cy="909600"/>
          </a:xfrm>
          <a:prstGeom prst="arc">
            <a:avLst>
              <a:gd fmla="val 10114734" name="adj1"/>
              <a:gd fmla="val 16150619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750700" y="4172625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β0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956225" y="1930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β1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7668447" y="3904125"/>
            <a:ext cx="656700" cy="668700"/>
          </a:xfrm>
          <a:prstGeom prst="arc">
            <a:avLst>
              <a:gd fmla="val 16427635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8190072" y="3829825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β2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174100" y="1200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What would happen if β0 changed?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</a:t>
            </a:r>
            <a:r>
              <a:rPr lang="es"/>
              <a:t>arallelogram </a:t>
            </a:r>
            <a:r>
              <a:rPr lang="es"/>
              <a:t>vs Four-bar linkage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25" y="870600"/>
            <a:ext cx="3764450" cy="356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575" y="1120563"/>
            <a:ext cx="4499024" cy="331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/>
              <a:t>Four-bar linkage, examples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https://www.youtube.com/watch?v=ohPwT1TYvqE&amp;list=PL3p-xXY-sN6GKWr1vW_iW8NHEkeZBoL3T&amp;index=133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https://youtu.be/vzM_-Rr5mtw?list=PL3p-xXY-sN6GKWr1vW_iW8NHEkeZBoL3T&amp;t=431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https://www.youtube.com/watch?v=5ecQ2bxHRjI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6"/>
              </a:rPr>
              <a:t>https://www.youtube.com/watch?v=NM4q-f68TlY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7"/>
              </a:rPr>
              <a:t>https://www.youtube.com/watch?v=nhd0NdZDjWw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8"/>
              </a:rPr>
              <a:t>https://www.youtube.com/watch?v=JFmNAI-4cQo&amp;list=PL3p-xXY-sN6GKWr1vW_iW8NHEkeZBoL3T&amp;index=63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9"/>
              </a:rPr>
              <a:t>https://www.youtube.com/watch?v=NdIk5hIsBmg&amp;list=PL3p-xXY-sN6GKWr1vW_iW8NHEkeZBoL3T&amp;index=57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10"/>
              </a:rPr>
              <a:t>https://www.youtube.com/watch?v=74T0LF2l5Ck&amp;list=PL3p-xXY-sN6GKWr1vW_iW8NHEkeZBoL3T&amp;index=44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11"/>
              </a:rPr>
              <a:t>https://www.youtube.com/watch?v=VbSL5W8Ua6M&amp;list=PL3p-xXY-sN6GKWr1vW_iW8NHEkeZBoL3T&amp;index=135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12"/>
              </a:rPr>
              <a:t>https://www.youtube.com/watch?v=7hBNs4Xqdy4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/>
              <a:t>Four-bar linkage, two solutions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700" y="1498600"/>
            <a:ext cx="34480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6550" y="1748875"/>
            <a:ext cx="2907777" cy="256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/>
          <p:nvPr/>
        </p:nvSpPr>
        <p:spPr>
          <a:xfrm>
            <a:off x="116023" y="1584325"/>
            <a:ext cx="3290700" cy="3230700"/>
          </a:xfrm>
          <a:prstGeom prst="ellipse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1131074" y="1498600"/>
            <a:ext cx="1498200" cy="14709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629248" y="1912800"/>
            <a:ext cx="3290700" cy="3230700"/>
          </a:xfrm>
          <a:prstGeom prst="ellipse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5644299" y="1836300"/>
            <a:ext cx="1498200" cy="14709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1984750" y="3196125"/>
            <a:ext cx="125700" cy="1515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1913525" y="2181450"/>
            <a:ext cx="1257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6307923" y="3445025"/>
            <a:ext cx="125700" cy="1203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6355500" y="2451325"/>
            <a:ext cx="125700" cy="120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9"/>
          <p:cNvCxnSpPr>
            <a:stCxn id="120" idx="7"/>
            <a:endCxn id="124" idx="7"/>
          </p:cNvCxnSpPr>
          <p:nvPr/>
        </p:nvCxnSpPr>
        <p:spPr>
          <a:xfrm flipH="1">
            <a:off x="2020768" y="1714008"/>
            <a:ext cx="389100" cy="489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>
            <a:stCxn id="120" idx="7"/>
            <a:endCxn id="123" idx="0"/>
          </p:cNvCxnSpPr>
          <p:nvPr/>
        </p:nvCxnSpPr>
        <p:spPr>
          <a:xfrm flipH="1">
            <a:off x="2047468" y="1714008"/>
            <a:ext cx="362400" cy="14820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9"/>
          <p:cNvCxnSpPr/>
          <p:nvPr/>
        </p:nvCxnSpPr>
        <p:spPr>
          <a:xfrm>
            <a:off x="5996100" y="1963750"/>
            <a:ext cx="359400" cy="15522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9"/>
          <p:cNvCxnSpPr>
            <a:endCxn id="126" idx="1"/>
          </p:cNvCxnSpPr>
          <p:nvPr/>
        </p:nvCxnSpPr>
        <p:spPr>
          <a:xfrm>
            <a:off x="6002808" y="1956843"/>
            <a:ext cx="371100" cy="51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/>
              <a:t>Four-bar linkage, algorithm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-667250" y="782800"/>
            <a:ext cx="85206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function fbl(A, D, B, L2, L3, elbow = 1) {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AB = new THREE.Vector3().subVectors(B, A);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BD = new THREE.Vector3().subVectors(D, B);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d = BD.length();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ex = BD.clone().normalize();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a = (L2 * L2 - L3 * L3 + d * d) / (2 * d);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h2 = L2 * L2 - a * a;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if (h2 &lt; 0) return null;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h = Math.sqrt(h2);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P = B.clone().add(ex.clone().multiplyScalar(a));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normal = new THREE.Vector3()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    .crossVectors(AB, BD)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    .normalize();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const ey = new THREE.Vector3()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    .crossVectors(normal, ex)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    .normalize();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    return P.clone().add(ey.multiplyScalar(elbow * h));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550" y="1748875"/>
            <a:ext cx="2907777" cy="256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/>
          <p:nvPr/>
        </p:nvSpPr>
        <p:spPr>
          <a:xfrm>
            <a:off x="4629248" y="1912800"/>
            <a:ext cx="3290700" cy="3230700"/>
          </a:xfrm>
          <a:prstGeom prst="ellipse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5644299" y="1836300"/>
            <a:ext cx="1498200" cy="14709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6307923" y="3445025"/>
            <a:ext cx="125700" cy="1203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6355500" y="2451325"/>
            <a:ext cx="125700" cy="120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" name="Google Shape;142;p20"/>
          <p:cNvCxnSpPr/>
          <p:nvPr/>
        </p:nvCxnSpPr>
        <p:spPr>
          <a:xfrm>
            <a:off x="5996100" y="1963750"/>
            <a:ext cx="359400" cy="15522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0"/>
          <p:cNvCxnSpPr>
            <a:endCxn id="141" idx="1"/>
          </p:cNvCxnSpPr>
          <p:nvPr/>
        </p:nvCxnSpPr>
        <p:spPr>
          <a:xfrm>
            <a:off x="6002808" y="1956843"/>
            <a:ext cx="371100" cy="51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4011650" y="127525"/>
            <a:ext cx="438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</a:t>
            </a:r>
            <a:r>
              <a:rPr lang="es"/>
              <a:t>irect Kinematics</a:t>
            </a:r>
            <a:endParaRPr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100" y="1095300"/>
            <a:ext cx="5325350" cy="39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>
            <a:off x="5229075" y="4246925"/>
            <a:ext cx="656700" cy="668700"/>
          </a:xfrm>
          <a:prstGeom prst="arc">
            <a:avLst>
              <a:gd fmla="val 17389729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6062404" y="1930944"/>
            <a:ext cx="656700" cy="668700"/>
          </a:xfrm>
          <a:prstGeom prst="arc">
            <a:avLst>
              <a:gd fmla="val 511482" name="adj1"/>
              <a:gd fmla="val 2938495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5956213" y="1786175"/>
            <a:ext cx="893400" cy="909600"/>
          </a:xfrm>
          <a:prstGeom prst="arc">
            <a:avLst>
              <a:gd fmla="val 17389729" name="adj1"/>
              <a:gd fmla="val 3161055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5750700" y="4172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α1=θ1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6337025" y="2199450"/>
            <a:ext cx="6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α2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6498100" y="1853975"/>
            <a:ext cx="7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θ2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-490900" y="313800"/>
            <a:ext cx="8520600" cy="4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computePoints_deg(alphas, ctes)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const pts = {};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// --- helpers ---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const rotZ = (angle) =&gt; new THREE.Vector3(Math.cos(angle), Math.sin(angle), 0);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const angleBetween = (p1, p2) =&gt;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v = new THREE.Vector3().subVectors(p1, p2);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return Math.atan2(v.y, v.x);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};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// --- base point ---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pts.a = new THREE.Vector3(0, 0, 0);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dir = rotZ(ctes.beta1);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pts.b = new THREE.Vector3().copy(pts.a).addScaledVector(dir, this.model.li.A.l);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console.log('b',dir, this.model.li.A.l,pts.a,pts.b)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dir = rotZ(alphas.alpha1);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pts.d = new THREE.Vector3().copy(pts.a).addScaledVector(dir, this.model.li.B.l);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pts.c= fbl(pts.a,pts.b,pts.d,this.model.li.C.l,this.model.li.D.l,-1)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dir = rotZ(alphas.alpha2);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pts.e = new THREE.Vector3().copy(pts.a).addScaledVector(dir, this.model.li.G.l);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pts.f= fbl(pts.a,pts.e,pts.d,this.model.li.E.l,this.model.li.F.l,-1)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ang = angleBetween(pts.d, pts.c) + ctes.beta2;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dir = rotZ(ang);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pts.g = new THREE.Vector3().copy(pts.d).addScaledVector(dir, this.model.li.I.l);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ang = angleBetween(pts.d, pts.f);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dir = rotZ(ang);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pts.i = new THREE.Vector3().copy(pts.d).addScaledVector(dir, this.model.li.J.l);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pts.h= fbl(pts.d,pts.i,pts.g,this.model.li.J.l,this.model.li.I.l,-1)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ang = angleBetween(pts.i, pts.h) + ctes.beta3;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const dir = rotZ(ang);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    pts.j = new THREE.Vector3().copy(pts.i).addScaledVector(dir, this.model.li.M.l);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    return pts;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2"/>
          <p:cNvGrpSpPr/>
          <p:nvPr/>
        </p:nvGrpSpPr>
        <p:grpSpPr>
          <a:xfrm>
            <a:off x="4421025" y="960858"/>
            <a:ext cx="5001625" cy="3716750"/>
            <a:chOff x="4043725" y="1225325"/>
            <a:chExt cx="5001625" cy="3716750"/>
          </a:xfrm>
        </p:grpSpPr>
        <p:pic>
          <p:nvPicPr>
            <p:cNvPr id="162" name="Google Shape;162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43725" y="1225325"/>
              <a:ext cx="5001625" cy="36422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22"/>
            <p:cNvSpPr/>
            <p:nvPr/>
          </p:nvSpPr>
          <p:spPr>
            <a:xfrm>
              <a:off x="5367525" y="4398775"/>
              <a:ext cx="462600" cy="543300"/>
            </a:xfrm>
            <a:prstGeom prst="arc">
              <a:avLst>
                <a:gd fmla="val 17389729" name="adj1"/>
                <a:gd fmla="val 0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2"/>
            <p:cNvSpPr/>
            <p:nvPr/>
          </p:nvSpPr>
          <p:spPr>
            <a:xfrm>
              <a:off x="6106204" y="1992294"/>
              <a:ext cx="656700" cy="668700"/>
            </a:xfrm>
            <a:prstGeom prst="arc">
              <a:avLst>
                <a:gd fmla="val 511482" name="adj1"/>
                <a:gd fmla="val 293849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2"/>
            <p:cNvSpPr/>
            <p:nvPr/>
          </p:nvSpPr>
          <p:spPr>
            <a:xfrm>
              <a:off x="6000013" y="1847525"/>
              <a:ext cx="893400" cy="909600"/>
            </a:xfrm>
            <a:prstGeom prst="arc">
              <a:avLst>
                <a:gd fmla="val 17389729" name="adj1"/>
                <a:gd fmla="val 31610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2"/>
            <p:cNvSpPr txBox="1"/>
            <p:nvPr/>
          </p:nvSpPr>
          <p:spPr>
            <a:xfrm>
              <a:off x="5745575" y="4320925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</a:rPr>
                <a:t>α1=θ1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67" name="Google Shape;167;p22"/>
            <p:cNvSpPr txBox="1"/>
            <p:nvPr/>
          </p:nvSpPr>
          <p:spPr>
            <a:xfrm>
              <a:off x="6380825" y="2260800"/>
              <a:ext cx="6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</a:rPr>
                <a:t>α2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68" name="Google Shape;168;p22"/>
            <p:cNvSpPr txBox="1"/>
            <p:nvPr/>
          </p:nvSpPr>
          <p:spPr>
            <a:xfrm>
              <a:off x="6541900" y="1915325"/>
              <a:ext cx="70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</a:rPr>
                <a:t>θ</a:t>
              </a:r>
              <a:r>
                <a:rPr lang="es">
                  <a:solidFill>
                    <a:schemeClr val="lt1"/>
                  </a:solidFill>
                </a:rPr>
                <a:t>2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69" name="Google Shape;169;p22"/>
          <p:cNvSpPr txBox="1"/>
          <p:nvPr/>
        </p:nvSpPr>
        <p:spPr>
          <a:xfrm>
            <a:off x="7074025" y="3819083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r1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70" name="Google Shape;170;p22"/>
          <p:cNvCxnSpPr/>
          <p:nvPr/>
        </p:nvCxnSpPr>
        <p:spPr>
          <a:xfrm>
            <a:off x="5992125" y="4050333"/>
            <a:ext cx="228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2"/>
          <p:cNvSpPr txBox="1"/>
          <p:nvPr/>
        </p:nvSpPr>
        <p:spPr>
          <a:xfrm>
            <a:off x="8403225" y="4071908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r2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72" name="Google Shape;172;p22"/>
          <p:cNvCxnSpPr/>
          <p:nvPr/>
        </p:nvCxnSpPr>
        <p:spPr>
          <a:xfrm rot="10800000">
            <a:off x="8403225" y="4169258"/>
            <a:ext cx="6900" cy="174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2"/>
          <p:cNvSpPr txBox="1"/>
          <p:nvPr>
            <p:ph type="title"/>
          </p:nvPr>
        </p:nvSpPr>
        <p:spPr>
          <a:xfrm>
            <a:off x="137000" y="13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Inverse kinematics, two steps</a:t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8277525" y="3865683"/>
            <a:ext cx="62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P</a:t>
            </a:r>
            <a:endParaRPr/>
          </a:p>
        </p:txBody>
      </p:sp>
      <p:pic>
        <p:nvPicPr>
          <p:cNvPr id="175" name="Google Shape;1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09258" y="956508"/>
            <a:ext cx="5351005" cy="39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/>
          <p:nvPr/>
        </p:nvSpPr>
        <p:spPr>
          <a:xfrm>
            <a:off x="1194017" y="4222458"/>
            <a:ext cx="462600" cy="543300"/>
          </a:xfrm>
          <a:prstGeom prst="arc">
            <a:avLst>
              <a:gd fmla="val 17389729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1932695" y="1815977"/>
            <a:ext cx="656700" cy="668700"/>
          </a:xfrm>
          <a:prstGeom prst="arc">
            <a:avLst>
              <a:gd fmla="val 511482" name="adj1"/>
              <a:gd fmla="val 2938495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1826505" y="1671208"/>
            <a:ext cx="893400" cy="909600"/>
          </a:xfrm>
          <a:prstGeom prst="arc">
            <a:avLst>
              <a:gd fmla="val 17389729" name="adj1"/>
              <a:gd fmla="val 3161055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1399683" y="419070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α1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2207317" y="2084483"/>
            <a:ext cx="6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α2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2368392" y="1739008"/>
            <a:ext cx="7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θ2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2523217" y="3907233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r1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83" name="Google Shape;183;p22"/>
          <p:cNvCxnSpPr/>
          <p:nvPr/>
        </p:nvCxnSpPr>
        <p:spPr>
          <a:xfrm>
            <a:off x="1441317" y="4138483"/>
            <a:ext cx="228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2"/>
          <p:cNvSpPr txBox="1"/>
          <p:nvPr/>
        </p:nvSpPr>
        <p:spPr>
          <a:xfrm>
            <a:off x="3852417" y="4160058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r2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85" name="Google Shape;185;p22"/>
          <p:cNvCxnSpPr/>
          <p:nvPr/>
        </p:nvCxnSpPr>
        <p:spPr>
          <a:xfrm rot="10800000">
            <a:off x="3852417" y="4257408"/>
            <a:ext cx="6900" cy="174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2"/>
          <p:cNvSpPr txBox="1"/>
          <p:nvPr/>
        </p:nvSpPr>
        <p:spPr>
          <a:xfrm>
            <a:off x="3726717" y="3953833"/>
            <a:ext cx="62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P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745817" y="3954558"/>
            <a:ext cx="1036500" cy="1079100"/>
          </a:xfrm>
          <a:prstGeom prst="arc">
            <a:avLst>
              <a:gd fmla="val 14618305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496467" y="389178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gamma1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3"/>
          <p:cNvGrpSpPr/>
          <p:nvPr/>
        </p:nvGrpSpPr>
        <p:grpSpPr>
          <a:xfrm>
            <a:off x="4103525" y="537525"/>
            <a:ext cx="5001625" cy="3716750"/>
            <a:chOff x="4043725" y="1225325"/>
            <a:chExt cx="5001625" cy="3716750"/>
          </a:xfrm>
        </p:grpSpPr>
        <p:pic>
          <p:nvPicPr>
            <p:cNvPr id="194" name="Google Shape;19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43725" y="1225325"/>
              <a:ext cx="5001625" cy="36422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3"/>
            <p:cNvSpPr/>
            <p:nvPr/>
          </p:nvSpPr>
          <p:spPr>
            <a:xfrm>
              <a:off x="5367525" y="4398775"/>
              <a:ext cx="462600" cy="543300"/>
            </a:xfrm>
            <a:prstGeom prst="arc">
              <a:avLst>
                <a:gd fmla="val 17389729" name="adj1"/>
                <a:gd fmla="val 0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6106204" y="1992294"/>
              <a:ext cx="656700" cy="668700"/>
            </a:xfrm>
            <a:prstGeom prst="arc">
              <a:avLst>
                <a:gd fmla="val 511482" name="adj1"/>
                <a:gd fmla="val 293849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3"/>
            <p:cNvSpPr/>
            <p:nvPr/>
          </p:nvSpPr>
          <p:spPr>
            <a:xfrm>
              <a:off x="6000013" y="1847525"/>
              <a:ext cx="893400" cy="909600"/>
            </a:xfrm>
            <a:prstGeom prst="arc">
              <a:avLst>
                <a:gd fmla="val 17389729" name="adj1"/>
                <a:gd fmla="val 31610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3"/>
            <p:cNvSpPr txBox="1"/>
            <p:nvPr/>
          </p:nvSpPr>
          <p:spPr>
            <a:xfrm>
              <a:off x="5745575" y="4320925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</a:rPr>
                <a:t>α1=θ1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99" name="Google Shape;199;p23"/>
            <p:cNvSpPr txBox="1"/>
            <p:nvPr/>
          </p:nvSpPr>
          <p:spPr>
            <a:xfrm>
              <a:off x="6380825" y="2260800"/>
              <a:ext cx="6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</a:rPr>
                <a:t>α2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00" name="Google Shape;200;p23"/>
            <p:cNvSpPr txBox="1"/>
            <p:nvPr/>
          </p:nvSpPr>
          <p:spPr>
            <a:xfrm>
              <a:off x="6541900" y="1915325"/>
              <a:ext cx="70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</a:rPr>
                <a:t>θ2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201" name="Google Shape;201;p23"/>
          <p:cNvSpPr txBox="1"/>
          <p:nvPr/>
        </p:nvSpPr>
        <p:spPr>
          <a:xfrm>
            <a:off x="6756525" y="3395750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r1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02" name="Google Shape;202;p23"/>
          <p:cNvCxnSpPr/>
          <p:nvPr/>
        </p:nvCxnSpPr>
        <p:spPr>
          <a:xfrm>
            <a:off x="5674625" y="3627000"/>
            <a:ext cx="228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3"/>
          <p:cNvSpPr txBox="1"/>
          <p:nvPr/>
        </p:nvSpPr>
        <p:spPr>
          <a:xfrm>
            <a:off x="8085725" y="36485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r2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04" name="Google Shape;204;p23"/>
          <p:cNvCxnSpPr/>
          <p:nvPr/>
        </p:nvCxnSpPr>
        <p:spPr>
          <a:xfrm rot="10800000">
            <a:off x="8085725" y="3745925"/>
            <a:ext cx="6900" cy="174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3"/>
          <p:cNvSpPr txBox="1"/>
          <p:nvPr>
            <p:ph type="title"/>
          </p:nvPr>
        </p:nvSpPr>
        <p:spPr>
          <a:xfrm>
            <a:off x="137000" y="13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Two links, two joins inverse kinematics</a:t>
            </a:r>
            <a:endParaRPr/>
          </a:p>
        </p:txBody>
      </p:sp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-356400" y="837875"/>
            <a:ext cx="59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function inv_kin_2links_rad(P) {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a1 = 0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a2 = model1.li.B.l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a3 = model1.li.J.l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x03 = P.x;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z03 = P.y;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y03 = -P.z;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alpha0 = Math.atan2(y03, x03);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r1 = Math.sqrt(x03 ** 2 + y03 ** 2);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r2 = -(z03 - a1);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phi2 = Math.atan2(r2, r1);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r3 = Math.sqrt(r1 ** 2 + r2 ** 2);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phi1 = Math.acos((a3 ** 2 - a2 ** 2 - r3 ** 2) /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                                          (-2 * a2 * r3));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alpha1 = phi1 - phi2;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phi3 = Math.acos((r3 ** 2 - a2 ** 2 - a3 ** 2) /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                                           (-2 * a2 * a3));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const alpha2 = phi3 - Math.PI / 2;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    return [alpha0, alpha1, alpha2];</a:t>
            </a:r>
            <a:endParaRPr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        }</a:t>
            </a:r>
            <a:endParaRPr sz="2100"/>
          </a:p>
        </p:txBody>
      </p:sp>
      <p:sp>
        <p:nvSpPr>
          <p:cNvPr id="207" name="Google Shape;207;p23"/>
          <p:cNvSpPr txBox="1"/>
          <p:nvPr/>
        </p:nvSpPr>
        <p:spPr>
          <a:xfrm>
            <a:off x="7960025" y="3442350"/>
            <a:ext cx="62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050" y="445025"/>
            <a:ext cx="5351005" cy="39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 txBox="1"/>
          <p:nvPr>
            <p:ph type="title"/>
          </p:nvPr>
        </p:nvSpPr>
        <p:spPr>
          <a:xfrm>
            <a:off x="5281075" y="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MeArm </a:t>
            </a:r>
            <a:r>
              <a:rPr lang="es"/>
              <a:t>inverse kinematics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-560575" y="445025"/>
            <a:ext cx="8520600" cy="41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function mearm_inverseKinematics(finalPoint)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const [alpha0, alpha1, alpha2] = inv_kin_2links(finalPoint)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const gamma0 = alpha0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const gamma1 = alpha1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const a = new THREE.Vector3(0, 0, 0)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const d = new THREE.Vector3(model1.li.B.l, 0, 0)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d.applyAxisAngle(new THREE.Vector3(0, 0, 1), alpha1)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d.add(a)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const f = new THREE.Vector3(model1.li.E.l, 0, 0)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f.applyAxisAngle(new THREE.Vector3(0, 0, 1), alpha2 + Math.PI)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f.add(d)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const e = fbl(d, a, f, model1.li.F.l, model1.li.G.l, -1)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const gamma2 = Math.atan2(e.y - a.y, e.x - a.x)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    return [gamma0, gamma1, gamma2]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15" name="Google Shape;215;p24"/>
          <p:cNvSpPr/>
          <p:nvPr/>
        </p:nvSpPr>
        <p:spPr>
          <a:xfrm>
            <a:off x="5427325" y="3710975"/>
            <a:ext cx="462600" cy="543300"/>
          </a:xfrm>
          <a:prstGeom prst="arc">
            <a:avLst>
              <a:gd fmla="val 17389729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6166004" y="1304494"/>
            <a:ext cx="656700" cy="668700"/>
          </a:xfrm>
          <a:prstGeom prst="arc">
            <a:avLst>
              <a:gd fmla="val 511482" name="adj1"/>
              <a:gd fmla="val 2938495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6059813" y="1159725"/>
            <a:ext cx="893400" cy="909600"/>
          </a:xfrm>
          <a:prstGeom prst="arc">
            <a:avLst>
              <a:gd fmla="val 17389729" name="adj1"/>
              <a:gd fmla="val 3161055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5632992" y="3679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α1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6440625" y="1573000"/>
            <a:ext cx="6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α2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6601700" y="1227525"/>
            <a:ext cx="7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θ2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6756525" y="3395750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r1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22" name="Google Shape;222;p24"/>
          <p:cNvCxnSpPr/>
          <p:nvPr/>
        </p:nvCxnSpPr>
        <p:spPr>
          <a:xfrm>
            <a:off x="5674625" y="3627000"/>
            <a:ext cx="228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4"/>
          <p:cNvSpPr txBox="1"/>
          <p:nvPr/>
        </p:nvSpPr>
        <p:spPr>
          <a:xfrm>
            <a:off x="8085725" y="36485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r2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24" name="Google Shape;224;p24"/>
          <p:cNvCxnSpPr/>
          <p:nvPr/>
        </p:nvCxnSpPr>
        <p:spPr>
          <a:xfrm rot="10800000">
            <a:off x="8085725" y="3745925"/>
            <a:ext cx="6900" cy="174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4"/>
          <p:cNvSpPr txBox="1"/>
          <p:nvPr/>
        </p:nvSpPr>
        <p:spPr>
          <a:xfrm>
            <a:off x="7960025" y="3442350"/>
            <a:ext cx="62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P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4979125" y="3443075"/>
            <a:ext cx="1036500" cy="1079100"/>
          </a:xfrm>
          <a:prstGeom prst="arc">
            <a:avLst>
              <a:gd fmla="val 14618305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4729775" y="3380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gamma1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ncillo oscur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